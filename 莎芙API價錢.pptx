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ECB30-7F97-26BE-FBF3-C8EC154C3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FC1CA8-98E8-418D-EEA0-77776F364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604743-0504-9E10-B301-42093FC1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6A9FD8-0B9A-4A9F-CC02-74025C2C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A2BE63-09C8-C0DF-E2DE-8D69FFFD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99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3EAAAE-B41A-C5EE-46F0-19DB7F36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E10270-7718-D24D-7C4D-8014B8CE5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F794D2-0573-9F02-8824-4A82912E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8F8902-33FB-3E7D-D64E-D10C19E44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ABA52D-60BD-0E07-261E-F1064C84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64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43249-42E6-7C18-767C-1E1907E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D812BE-F2CB-7B56-5D0E-B0F790111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9A2C8D-7978-A074-53E2-5DC5C47D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D1FBF5-C1F4-FD21-64C3-593F6071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483479-9818-1D2E-B4CA-066351AF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0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C11A33-78A3-2211-26FE-9478048B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C54617-220C-7278-2B5D-29B9ABB27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53BDAC-0848-70C8-CF41-521AA8D5E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77C54E-A9F2-6DE9-2D76-F9C2DE5C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2B5BA1-469A-DB72-900C-D98D7055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B3A242-4DDD-0B90-5F6A-74024459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80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12BB9-F91F-3CBB-63BB-5D61678E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295664-F3F2-12E8-3E80-C5CFA5FDD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F5896D-89DB-A738-BD2A-C863A68D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08310E-5E78-6D7B-9BB9-20A60C73A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B68EB99-959E-1649-8286-484BA7408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021C381-9903-F666-ACB7-E3A9A2B2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CB9231A-96A4-5C22-4A15-3B9E6B3E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030525-98CF-04D6-9284-40768B51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65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D7222-30BD-FBF9-3BA7-E8AD19CC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AE67ED-D919-7A9B-F793-AA0E331B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F96F169-BCC5-D03F-1181-8784DAAF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34763B-141A-1088-F338-3097A5BA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9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3F02C03-7AC9-74BB-F9E8-667D4ACC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D09B28-F09F-CDF1-6EF4-9BBE5112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B07BC6-E445-B77D-67FE-F5B29483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63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CC8643-139E-FDB1-AA54-C66A54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522C00-2903-7721-F9A6-041CCFB76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8E2F66-DA2E-25E5-7426-B6FF5D855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71752F-4CDB-E5BE-7EBA-B4530466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301D41-2DB8-B66C-B8D8-24E40C9E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16C672-3910-A13B-3331-213EAFE7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653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57258-C290-42CD-AAF9-4D21DB68F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9771D80-D51D-FDA7-FD52-EFCF3BC4E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75F6EB-9E24-449C-1C5D-43F559DC4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6D66FB-B8CA-3610-162E-67B491A1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9BD134-2FE0-0E06-0CF4-5A47B187D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880CA6-7360-77A0-3616-068C9173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3A3B55-E3FC-E21C-4932-7C35AA13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27FC5A-0F6B-4B8B-5314-DB2A222DA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C42CFB-9934-42AE-ABA1-78507C72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3293AC-C4FC-A559-EA55-848F197E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9D2868-E2EC-0FB7-BEC6-2977959C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99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A123FB2-8FC3-AAF3-979F-8A76C0A32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FFFD14-A262-06C0-233E-0596754ED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3D2C7F-39C3-F199-9337-07B2253D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B89EB1-482B-DAAC-B57B-72919566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4B7F57-0370-B4CE-5C54-89C9F81E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67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8B7D858-1B26-E743-192E-4C324602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1CE77B-965A-2F36-329D-5D449B49F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D46F29-7C16-C528-1C54-F3BB85CD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34B85-78E5-4CED-9804-5E08F89F6986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E9B7D6-EB36-3622-5E2D-318E6BF3E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B2570D-65DE-2EC4-D3B7-1F7024D17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8E0DF-3185-4897-B56D-9E11E5BEB6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56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01DF1-9137-9025-C562-0605F7E8F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莎芙</a:t>
            </a:r>
            <a:r>
              <a:rPr lang="en-US" altLang="zh-TW" dirty="0"/>
              <a:t>API</a:t>
            </a:r>
            <a:r>
              <a:rPr lang="zh-TW" altLang="en-US" dirty="0"/>
              <a:t>價錢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3DECAE-AEED-AB1F-31F0-14E48E771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97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9C8869-CEF0-7D3F-4653-91C5C3A3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相同配色四張不同設計的圖騰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A0D028C-B437-7EE0-C0F1-B11B47804C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327119"/>
              </p:ext>
            </p:extLst>
          </p:nvPr>
        </p:nvGraphicFramePr>
        <p:xfrm>
          <a:off x="838199" y="1825625"/>
          <a:ext cx="1079721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209">
                  <a:extLst>
                    <a:ext uri="{9D8B030D-6E8A-4147-A177-3AD203B41FA5}">
                      <a16:colId xmlns:a16="http://schemas.microsoft.com/office/drawing/2014/main" val="3986541784"/>
                    </a:ext>
                  </a:extLst>
                </a:gridCol>
                <a:gridCol w="2495750">
                  <a:extLst>
                    <a:ext uri="{9D8B030D-6E8A-4147-A177-3AD203B41FA5}">
                      <a16:colId xmlns:a16="http://schemas.microsoft.com/office/drawing/2014/main" val="3709570590"/>
                    </a:ext>
                  </a:extLst>
                </a:gridCol>
                <a:gridCol w="797321">
                  <a:extLst>
                    <a:ext uri="{9D8B030D-6E8A-4147-A177-3AD203B41FA5}">
                      <a16:colId xmlns:a16="http://schemas.microsoft.com/office/drawing/2014/main" val="1578852027"/>
                    </a:ext>
                  </a:extLst>
                </a:gridCol>
                <a:gridCol w="4194180">
                  <a:extLst>
                    <a:ext uri="{9D8B030D-6E8A-4147-A177-3AD203B41FA5}">
                      <a16:colId xmlns:a16="http://schemas.microsoft.com/office/drawing/2014/main" val="2809761701"/>
                    </a:ext>
                  </a:extLst>
                </a:gridCol>
                <a:gridCol w="2495750">
                  <a:extLst>
                    <a:ext uri="{9D8B030D-6E8A-4147-A177-3AD203B41FA5}">
                      <a16:colId xmlns:a16="http://schemas.microsoft.com/office/drawing/2014/main" val="1118717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選擇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價錢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備案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17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Gpt-5-mini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將使用者需求編譯成圖片 </a:t>
                      </a:r>
                      <a:r>
                        <a:rPr lang="en-US" altLang="zh-TW" sz="1200" dirty="0"/>
                        <a:t>prompt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US$0.001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很便宜，幾乎不用錢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093406"/>
                  </a:ext>
                </a:extLst>
              </a:tr>
              <a:tr h="31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◩待定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Gpt-image-1-high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生成相同配色、四張不同設計的圖騰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圖片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US$1.000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＋文字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input US$0.010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0.015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；連同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mini 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共 </a:t>
                      </a:r>
                      <a:r>
                        <a:rPr lang="en-US" altLang="zh-TW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US$1.011</a:t>
                      </a:r>
                      <a:r>
                        <a:rPr lang="zh-TW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1.016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實測速度較快，但最貴</a:t>
                      </a:r>
                      <a:endParaRPr lang="en-US" altLang="zh-TW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endParaRPr lang="en-US" altLang="zh-TW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Gpt-image-2-high</a:t>
                      </a:r>
                    </a:p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Gpt-image-1-mediun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57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◩ 測試中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Gpt-image-2-high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生成相同配色、四張不同設計的圖騰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圖片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US$0.660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＋文字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input US$0.010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0.015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；連同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mini 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共 </a:t>
                      </a:r>
                      <a:r>
                        <a:rPr lang="en-US" altLang="zh-TW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US$0.671</a:t>
                      </a:r>
                      <a:r>
                        <a:rPr lang="zh-TW" altLang="en-US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b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0.676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較便宜，但實測等待較久；</a:t>
                      </a:r>
                      <a:endParaRPr lang="en-US" altLang="zh-TW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比較成品效果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002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☑選定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Gpt-image-1-medium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生成相同配色、四張不同設計的圖騰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圖片 </a:t>
                      </a:r>
                      <a:r>
                        <a:rPr lang="en-US" altLang="zh-TW" sz="1200" dirty="0"/>
                        <a:t>US$0.660</a:t>
                      </a:r>
                      <a:r>
                        <a:rPr lang="zh-TW" altLang="en-US" sz="1200" dirty="0"/>
                        <a:t>＋文字 </a:t>
                      </a:r>
                      <a:r>
                        <a:rPr lang="en-US" altLang="zh-TW" sz="1200" dirty="0"/>
                        <a:t>input US$0.010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0.015</a:t>
                      </a:r>
                      <a:r>
                        <a:rPr lang="zh-TW" altLang="en-US" sz="1200" dirty="0"/>
                        <a:t>；連同 </a:t>
                      </a:r>
                      <a:r>
                        <a:rPr lang="en-US" altLang="zh-TW" sz="1200" dirty="0"/>
                        <a:t>mini </a:t>
                      </a:r>
                      <a:r>
                        <a:rPr lang="zh-TW" altLang="en-US" sz="1200" dirty="0"/>
                        <a:t>共 </a:t>
                      </a:r>
                      <a:r>
                        <a:rPr lang="en-US" altLang="zh-TW" sz="1200" b="1" dirty="0"/>
                        <a:t>US$0.671</a:t>
                      </a:r>
                      <a:r>
                        <a:rPr lang="zh-TW" altLang="en-US" sz="1200" b="1" dirty="0"/>
                        <a:t>～</a:t>
                      </a:r>
                      <a:r>
                        <a:rPr lang="en-US" altLang="zh-TW" sz="1200" b="1" dirty="0"/>
                        <a:t>0.676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速度與價格的折衷方案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03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25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D06F0-84FA-57D4-FB3B-7FFD5EA3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生成四張圖騰</a:t>
            </a:r>
            <a:r>
              <a:rPr lang="en-US" altLang="zh-TW" dirty="0"/>
              <a:t>+4</a:t>
            </a:r>
            <a:r>
              <a:rPr lang="zh-TW" altLang="en-US" dirty="0"/>
              <a:t>張商品圖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BA7CC1-56CB-9C9B-C3AC-FA824B917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490841"/>
              </p:ext>
            </p:extLst>
          </p:nvPr>
        </p:nvGraphicFramePr>
        <p:xfrm>
          <a:off x="1051339" y="1428658"/>
          <a:ext cx="10199755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951">
                  <a:extLst>
                    <a:ext uri="{9D8B030D-6E8A-4147-A177-3AD203B41FA5}">
                      <a16:colId xmlns:a16="http://schemas.microsoft.com/office/drawing/2014/main" val="1633111391"/>
                    </a:ext>
                  </a:extLst>
                </a:gridCol>
                <a:gridCol w="2039951">
                  <a:extLst>
                    <a:ext uri="{9D8B030D-6E8A-4147-A177-3AD203B41FA5}">
                      <a16:colId xmlns:a16="http://schemas.microsoft.com/office/drawing/2014/main" val="2737543041"/>
                    </a:ext>
                  </a:extLst>
                </a:gridCol>
                <a:gridCol w="2039951">
                  <a:extLst>
                    <a:ext uri="{9D8B030D-6E8A-4147-A177-3AD203B41FA5}">
                      <a16:colId xmlns:a16="http://schemas.microsoft.com/office/drawing/2014/main" val="3383953294"/>
                    </a:ext>
                  </a:extLst>
                </a:gridCol>
                <a:gridCol w="2039951">
                  <a:extLst>
                    <a:ext uri="{9D8B030D-6E8A-4147-A177-3AD203B41FA5}">
                      <a16:colId xmlns:a16="http://schemas.microsoft.com/office/drawing/2014/main" val="1161472583"/>
                    </a:ext>
                  </a:extLst>
                </a:gridCol>
                <a:gridCol w="2039951">
                  <a:extLst>
                    <a:ext uri="{9D8B030D-6E8A-4147-A177-3AD203B41FA5}">
                      <a16:colId xmlns:a16="http://schemas.microsoft.com/office/drawing/2014/main" val="93413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選擇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價錢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備案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2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◩待定</a:t>
                      </a:r>
                    </a:p>
                    <a:p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gpt-image1-high+gpt-5-mini+gpt-image1-medium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生成四張不同圖騰，再各生成一張商品圖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US$1.231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1.256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以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Image 2 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生成四張不同圖騰，再各生成一張商品圖</a:t>
                      </a:r>
                      <a:endParaRPr lang="en-US" altLang="zh-TW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只生成一張圖騰，以同一張圖騰生成四張不同商品圖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以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Medium 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生成四張不同圖騰，再各生成一張商品圖</a:t>
                      </a:r>
                      <a:endParaRPr lang="en-US" altLang="zh-TW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183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◩待定</a:t>
                      </a:r>
                    </a:p>
                    <a:p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gpt-image1-medium+gpt-5-mini+gpt-image1-medium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以 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Image 2 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生成四張不同圖騰，再各生成一張商品圖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US$0.891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0.916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應該不會用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80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◩待定</a:t>
                      </a:r>
                    </a:p>
                    <a:p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gpt-image1-high+gpt-5-mini+gpt-image1-medium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只生成一張圖騰，以同一張圖騰生成四張不同商品圖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US$0.481</a:t>
                      </a:r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～</a:t>
                      </a:r>
                      <a:r>
                        <a:rPr lang="en-US" altLang="zh-TW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0.506</a:t>
                      </a:r>
                      <a:endParaRPr lang="zh-TW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如果圖騰不行，就選這個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865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gpt-image-1-medium</a:t>
                      </a:r>
                      <a:r>
                        <a:rPr lang="zh-TW" altLang="en-US" sz="1200" dirty="0"/>
                        <a:t>＋</a:t>
                      </a:r>
                      <a:r>
                        <a:rPr lang="en-US" altLang="zh-TW" sz="1200" dirty="0"/>
                        <a:t>gpt-5-mini</a:t>
                      </a:r>
                      <a:r>
                        <a:rPr lang="zh-TW" altLang="en-US" sz="1200" dirty="0"/>
                        <a:t>＋</a:t>
                      </a:r>
                      <a:r>
                        <a:rPr lang="en-US" altLang="zh-TW" sz="1200" dirty="0"/>
                        <a:t>gpt-image-1-medium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以 </a:t>
                      </a:r>
                      <a:r>
                        <a:rPr lang="en-US" altLang="zh-TW" sz="1200" dirty="0"/>
                        <a:t>Medium </a:t>
                      </a:r>
                      <a:r>
                        <a:rPr lang="zh-TW" altLang="en-US" sz="1200" dirty="0"/>
                        <a:t>生成四張不同圖騰，再各生成一張商品圖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US$0.483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0.508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如果圖騰可行，就選這個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50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4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47F11-87B3-55A9-EE41-90300CDD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產生一張商品預覽圖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3617375-72A9-84CE-75CC-77408C94B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334667"/>
              </p:ext>
            </p:extLst>
          </p:nvPr>
        </p:nvGraphicFramePr>
        <p:xfrm>
          <a:off x="838199" y="1825625"/>
          <a:ext cx="10962862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386">
                  <a:extLst>
                    <a:ext uri="{9D8B030D-6E8A-4147-A177-3AD203B41FA5}">
                      <a16:colId xmlns:a16="http://schemas.microsoft.com/office/drawing/2014/main" val="898089490"/>
                    </a:ext>
                  </a:extLst>
                </a:gridCol>
                <a:gridCol w="2568619">
                  <a:extLst>
                    <a:ext uri="{9D8B030D-6E8A-4147-A177-3AD203B41FA5}">
                      <a16:colId xmlns:a16="http://schemas.microsoft.com/office/drawing/2014/main" val="1312188290"/>
                    </a:ext>
                  </a:extLst>
                </a:gridCol>
                <a:gridCol w="2568619">
                  <a:extLst>
                    <a:ext uri="{9D8B030D-6E8A-4147-A177-3AD203B41FA5}">
                      <a16:colId xmlns:a16="http://schemas.microsoft.com/office/drawing/2014/main" val="2656842647"/>
                    </a:ext>
                  </a:extLst>
                </a:gridCol>
                <a:gridCol w="2568619">
                  <a:extLst>
                    <a:ext uri="{9D8B030D-6E8A-4147-A177-3AD203B41FA5}">
                      <a16:colId xmlns:a16="http://schemas.microsoft.com/office/drawing/2014/main" val="524639569"/>
                    </a:ext>
                  </a:extLst>
                </a:gridCol>
                <a:gridCol w="2568619">
                  <a:extLst>
                    <a:ext uri="{9D8B030D-6E8A-4147-A177-3AD203B41FA5}">
                      <a16:colId xmlns:a16="http://schemas.microsoft.com/office/drawing/2014/main" val="2718546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選擇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價錢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備案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Gpt-image-1-medium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A</a:t>
                      </a:r>
                      <a:r>
                        <a:rPr lang="zh-TW" altLang="en-US" sz="1200" dirty="0"/>
                        <a:t>：套用商品 </a:t>
                      </a:r>
                      <a:r>
                        <a:rPr lang="en-US" altLang="zh-TW" sz="1200" dirty="0"/>
                        <a:t>Template</a:t>
                      </a:r>
                    </a:p>
                    <a:p>
                      <a:r>
                        <a:rPr lang="en-US" altLang="zh-TW" sz="1200" dirty="0"/>
                        <a:t>Input : </a:t>
                      </a:r>
                      <a:r>
                        <a:rPr lang="zh-TW" altLang="en-US" sz="1200" dirty="0"/>
                        <a:t>商品 </a:t>
                      </a:r>
                      <a:r>
                        <a:rPr lang="en-US" altLang="zh-TW" sz="1200" dirty="0"/>
                        <a:t>Template</a:t>
                      </a:r>
                      <a:r>
                        <a:rPr lang="zh-TW" altLang="en-US" sz="1200" dirty="0"/>
                        <a:t>＋圖騰＋文字</a:t>
                      </a:r>
                      <a:endParaRPr lang="en-US" altLang="zh-T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US$0.055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0.060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60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Gpt-image-1-medium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B</a:t>
                      </a:r>
                      <a:r>
                        <a:rPr lang="zh-TW" altLang="en-US" sz="1200" dirty="0"/>
                        <a:t>：修改既有預覽</a:t>
                      </a:r>
                      <a:endParaRPr lang="en-US" altLang="zh-TW" sz="1200" dirty="0"/>
                    </a:p>
                    <a:p>
                      <a:r>
                        <a:rPr lang="en-US" altLang="zh-TW" sz="1200" dirty="0"/>
                        <a:t>Input :</a:t>
                      </a:r>
                      <a:r>
                        <a:rPr lang="zh-TW" altLang="en-US" sz="1200" dirty="0"/>
                        <a:t>既有商品預覽＋圖騰＋修改文字</a:t>
                      </a:r>
                      <a:endParaRPr lang="en-US" altLang="zh-T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US$0.056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0.061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7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Gpt-image-1-medium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C</a:t>
                      </a:r>
                      <a:r>
                        <a:rPr lang="zh-TW" altLang="en-US" sz="1200" dirty="0"/>
                        <a:t>：無 </a:t>
                      </a:r>
                      <a:r>
                        <a:rPr lang="en-US" altLang="zh-TW" sz="1200" dirty="0"/>
                        <a:t>Template </a:t>
                      </a:r>
                      <a:r>
                        <a:rPr lang="zh-TW" altLang="en-US" sz="1200" dirty="0"/>
                        <a:t>生成</a:t>
                      </a:r>
                      <a:endParaRPr lang="en-US" altLang="zh-TW" sz="1200" dirty="0"/>
                    </a:p>
                    <a:p>
                      <a:r>
                        <a:rPr lang="en-US" altLang="zh-TW" sz="1200" dirty="0"/>
                        <a:t>Input :</a:t>
                      </a:r>
                      <a:r>
                        <a:rPr lang="zh-TW" altLang="en-US" sz="1200" dirty="0"/>
                        <a:t>圖騰＋商品描述文字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US$0.052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0.058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99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23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6D66C-DAB2-3AF0-D93F-58FAF3B8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產生一張修改後的圖騰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0E5FBAB-74AF-A539-4468-D655743C6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310926"/>
              </p:ext>
            </p:extLst>
          </p:nvPr>
        </p:nvGraphicFramePr>
        <p:xfrm>
          <a:off x="838200" y="1825625"/>
          <a:ext cx="105156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1599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962502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195520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59499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3354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選擇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價錢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648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gpt-5-mini</a:t>
                      </a:r>
                      <a:r>
                        <a:rPr lang="zh-TW" altLang="en-US" sz="1200" dirty="0"/>
                        <a:t>＋</a:t>
                      </a:r>
                      <a:r>
                        <a:rPr lang="en-US" altLang="zh-TW" sz="1200" dirty="0"/>
                        <a:t>Pillow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修改配色 </a:t>
                      </a:r>
                      <a:r>
                        <a:rPr lang="en-US" altLang="zh-TW" sz="1200" dirty="0"/>
                        <a:t>Pipeline 1</a:t>
                      </a:r>
                      <a:r>
                        <a:rPr lang="zh-TW" altLang="en-US" sz="1200" dirty="0"/>
                        <a:t>：</a:t>
                      </a:r>
                      <a:r>
                        <a:rPr lang="en-US" altLang="zh-TW" sz="1200" dirty="0"/>
                        <a:t>mini </a:t>
                      </a:r>
                      <a:r>
                        <a:rPr lang="zh-TW" altLang="en-US" sz="1200" dirty="0"/>
                        <a:t>讀取文字；信心度 ≥ </a:t>
                      </a:r>
                      <a:r>
                        <a:rPr lang="en-US" altLang="zh-TW" sz="1200" dirty="0"/>
                        <a:t>0.91</a:t>
                      </a:r>
                      <a:r>
                        <a:rPr lang="zh-TW" altLang="en-US" sz="1200" dirty="0"/>
                        <a:t>，使用本地演算法換色</a:t>
                      </a:r>
                      <a:endParaRPr lang="en-US" altLang="zh-T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US$0.0001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0.0005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沒有圖片模型輸出費，幾乎免費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207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gpt-5-mini</a:t>
                      </a:r>
                      <a:r>
                        <a:rPr lang="zh-TW" altLang="en-US" sz="1200" dirty="0"/>
                        <a:t>＋</a:t>
                      </a:r>
                      <a:r>
                        <a:rPr lang="en-US" altLang="zh-TW" sz="1200" dirty="0"/>
                        <a:t>gpt-image-1-medium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修改配色的</a:t>
                      </a:r>
                      <a:r>
                        <a:rPr lang="en-US" altLang="zh-TW" sz="1200" dirty="0"/>
                        <a:t>pipeline2:</a:t>
                      </a:r>
                      <a:r>
                        <a:rPr lang="zh-TW" altLang="en-US" sz="1200" dirty="0"/>
                        <a:t>讀取文字，信心度</a:t>
                      </a:r>
                      <a:r>
                        <a:rPr lang="en-US" altLang="zh-TW" sz="1200" dirty="0"/>
                        <a:t>&lt;0.91</a:t>
                      </a:r>
                      <a:r>
                        <a:rPr lang="zh-TW" altLang="en-US" sz="1200" dirty="0"/>
                        <a:t>，將圖片傳給</a:t>
                      </a:r>
                      <a:r>
                        <a:rPr lang="en-US" altLang="zh-TW" sz="1200" dirty="0"/>
                        <a:t>imagen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US$0.067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0.070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輸出一張修改配色後的圖騰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789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gpt-image-1-medium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修改配色 </a:t>
                      </a:r>
                      <a:r>
                        <a:rPr lang="en-US" altLang="zh-TW" sz="1200" dirty="0"/>
                        <a:t>Pipeline 2</a:t>
                      </a:r>
                      <a:r>
                        <a:rPr lang="zh-TW" altLang="en-US" sz="1200" dirty="0"/>
                        <a:t>：</a:t>
                      </a:r>
                      <a:r>
                        <a:rPr lang="en-US" altLang="zh-TW" sz="1200" dirty="0"/>
                        <a:t>mini </a:t>
                      </a:r>
                      <a:r>
                        <a:rPr lang="zh-TW" altLang="en-US" sz="1200" dirty="0"/>
                        <a:t>信心度 </a:t>
                      </a:r>
                      <a:r>
                        <a:rPr lang="en-US" altLang="zh-TW" sz="1200" dirty="0"/>
                        <a:t>&lt; 0.91</a:t>
                      </a:r>
                      <a:r>
                        <a:rPr lang="zh-TW" altLang="en-US" sz="1200" dirty="0"/>
                        <a:t>，輸入原圖＋文字給 </a:t>
                      </a:r>
                      <a:r>
                        <a:rPr lang="en-US" altLang="zh-TW" sz="1200" dirty="0"/>
                        <a:t>Image Edit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US$0.073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0.078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不呼叫 </a:t>
                      </a:r>
                      <a:r>
                        <a:rPr lang="en-US" altLang="zh-TW" sz="1200" dirty="0"/>
                        <a:t>mini</a:t>
                      </a:r>
                      <a:r>
                        <a:rPr lang="zh-TW" altLang="en-US" sz="1200" dirty="0"/>
                        <a:t>、不輸入原圖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52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☑</a:t>
                      </a:r>
                      <a:endParaRPr lang="en-US" altLang="zh-TW" sz="1200" dirty="0"/>
                    </a:p>
                    <a:p>
                      <a:r>
                        <a:rPr lang="zh-TW" altLang="en-US" sz="1200" dirty="0"/>
                        <a:t>選定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兩次 </a:t>
                      </a:r>
                      <a:r>
                        <a:rPr lang="en-US" altLang="zh-TW" sz="1200" dirty="0"/>
                        <a:t>gpt-5-mini</a:t>
                      </a:r>
                      <a:r>
                        <a:rPr lang="zh-TW" altLang="en-US" sz="1200" dirty="0"/>
                        <a:t>＋</a:t>
                      </a:r>
                      <a:r>
                        <a:rPr lang="en-US" altLang="zh-TW" sz="1200" dirty="0"/>
                        <a:t>gpt-image-1-medium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修改元素：</a:t>
                      </a:r>
                      <a:r>
                        <a:rPr lang="en-US" altLang="zh-TW" sz="1200" dirty="0"/>
                        <a:t>Mini 1 </a:t>
                      </a:r>
                      <a:r>
                        <a:rPr lang="zh-TW" altLang="en-US" sz="1200" dirty="0"/>
                        <a:t>更新 </a:t>
                      </a:r>
                      <a:r>
                        <a:rPr lang="en-US" altLang="zh-TW" sz="1200" dirty="0"/>
                        <a:t>Design Spec</a:t>
                      </a:r>
                      <a:r>
                        <a:rPr lang="zh-TW" altLang="en-US" sz="1200" dirty="0"/>
                        <a:t>；</a:t>
                      </a:r>
                      <a:r>
                        <a:rPr lang="en-US" altLang="zh-TW" sz="1200" dirty="0"/>
                        <a:t>Mini 2 </a:t>
                      </a:r>
                      <a:r>
                        <a:rPr lang="zh-TW" altLang="en-US" sz="1200" dirty="0"/>
                        <a:t>編譯圖片 </a:t>
                      </a:r>
                      <a:r>
                        <a:rPr lang="en-US" altLang="zh-TW" sz="1200" dirty="0"/>
                        <a:t>prompt</a:t>
                      </a:r>
                      <a:r>
                        <a:rPr lang="zh-TW" altLang="en-US" sz="1200" dirty="0"/>
                        <a:t>；</a:t>
                      </a:r>
                      <a:r>
                        <a:rPr lang="en-US" altLang="zh-TW" sz="1200" dirty="0"/>
                        <a:t>Image 1 </a:t>
                      </a:r>
                      <a:r>
                        <a:rPr lang="zh-TW" altLang="en-US" sz="1200" dirty="0"/>
                        <a:t>生成新圖</a:t>
                      </a:r>
                      <a:endParaRPr lang="en-US" altLang="zh-T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US$0.075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0.081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不是直接編輯原圖，而是重新生成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06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57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13D06-9036-2413-3C85-3FB4E5FA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最終估計價錢</a:t>
            </a:r>
            <a:r>
              <a:rPr lang="en-US" altLang="zh-TW" dirty="0"/>
              <a:t>(</a:t>
            </a:r>
            <a:r>
              <a:rPr lang="zh-TW" altLang="en-US" dirty="0"/>
              <a:t>尚未加上</a:t>
            </a:r>
            <a:r>
              <a:rPr lang="en-US" altLang="zh-TW" dirty="0" err="1"/>
              <a:t>aws</a:t>
            </a:r>
            <a:r>
              <a:rPr lang="zh-TW" altLang="en-US" dirty="0"/>
              <a:t>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F7752E0-B9E9-C9EE-175E-0A776EBCE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939188"/>
              </p:ext>
            </p:extLst>
          </p:nvPr>
        </p:nvGraphicFramePr>
        <p:xfrm>
          <a:off x="838200" y="1355173"/>
          <a:ext cx="10515597" cy="526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71743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8532786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68451749"/>
                    </a:ext>
                  </a:extLst>
                </a:gridCol>
              </a:tblGrid>
              <a:tr h="353951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圖片數量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使用情形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價錢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36262"/>
                  </a:ext>
                </a:extLst>
              </a:tr>
              <a:tr h="3054647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生成</a:t>
                      </a:r>
                      <a:r>
                        <a:rPr lang="en-US" altLang="zh-TW" sz="1200" dirty="0"/>
                        <a:t>25</a:t>
                      </a:r>
                      <a:r>
                        <a:rPr lang="zh-TW" altLang="en-US" sz="1200" dirty="0"/>
                        <a:t>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相同配色四張不同設計的圖騰</a:t>
                      </a:r>
                      <a:r>
                        <a:rPr lang="en-US" altLang="zh-TW" sz="1200" dirty="0"/>
                        <a:t>+8</a:t>
                      </a:r>
                      <a:r>
                        <a:rPr lang="zh-TW" altLang="en-US" sz="1200" dirty="0"/>
                        <a:t>次的</a:t>
                      </a:r>
                      <a:r>
                        <a:rPr lang="en-US" altLang="zh-TW" sz="1200" dirty="0"/>
                        <a:t>"A</a:t>
                      </a:r>
                      <a:r>
                        <a:rPr lang="zh-TW" altLang="en-US" sz="1200" dirty="0"/>
                        <a:t>：套用商品 </a:t>
                      </a:r>
                      <a:r>
                        <a:rPr lang="en-US" altLang="zh-TW" sz="1200" dirty="0"/>
                        <a:t>Template</a:t>
                      </a:r>
                    </a:p>
                    <a:p>
                      <a:r>
                        <a:rPr lang="en-US" altLang="zh-TW" sz="1200" dirty="0"/>
                        <a:t>Input : </a:t>
                      </a:r>
                      <a:r>
                        <a:rPr lang="zh-TW" altLang="en-US" sz="1200" dirty="0"/>
                        <a:t>商品 </a:t>
                      </a:r>
                      <a:r>
                        <a:rPr lang="en-US" altLang="zh-TW" sz="1200" dirty="0"/>
                        <a:t>Template</a:t>
                      </a:r>
                      <a:r>
                        <a:rPr lang="zh-TW" altLang="en-US" sz="1200" dirty="0"/>
                        <a:t>＋圖騰＋文字</a:t>
                      </a:r>
                      <a:endParaRPr lang="en-US" altLang="zh-TW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“+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2</a:t>
                      </a:r>
                      <a:r>
                        <a:rPr lang="zh-TW" altLang="en-US" sz="1200" dirty="0"/>
                        <a:t>次的</a:t>
                      </a:r>
                      <a:r>
                        <a:rPr lang="en-US" altLang="zh-TW" sz="1200" dirty="0"/>
                        <a:t>”</a:t>
                      </a:r>
                      <a:r>
                        <a:rPr lang="zh-TW" altLang="en-US" sz="1200" dirty="0"/>
                        <a:t>修改配色 </a:t>
                      </a:r>
                      <a:r>
                        <a:rPr lang="en-US" altLang="zh-TW" sz="1200" dirty="0"/>
                        <a:t>Pipeline 1</a:t>
                      </a:r>
                      <a:r>
                        <a:rPr lang="zh-TW" altLang="en-US" sz="1200" dirty="0"/>
                        <a:t>：</a:t>
                      </a:r>
                      <a:r>
                        <a:rPr lang="en-US" altLang="zh-TW" sz="1200" dirty="0"/>
                        <a:t>mini </a:t>
                      </a:r>
                      <a:r>
                        <a:rPr lang="zh-TW" altLang="en-US" sz="1200" dirty="0"/>
                        <a:t>讀取文字；信心度 ≥ </a:t>
                      </a:r>
                      <a:r>
                        <a:rPr lang="en-US" altLang="zh-TW" sz="1200" dirty="0"/>
                        <a:t>0.91</a:t>
                      </a:r>
                      <a:r>
                        <a:rPr lang="zh-TW" altLang="en-US" sz="1200" dirty="0"/>
                        <a:t>，使用本地演算法換色</a:t>
                      </a:r>
                      <a:endParaRPr lang="en-US" altLang="zh-TW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“+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8</a:t>
                      </a:r>
                      <a:r>
                        <a:rPr lang="zh-TW" altLang="en-US" sz="1200" dirty="0"/>
                        <a:t>次</a:t>
                      </a:r>
                      <a:r>
                        <a:rPr lang="en-US" altLang="zh-TW" sz="1200" dirty="0"/>
                        <a:t>"</a:t>
                      </a:r>
                      <a:r>
                        <a:rPr lang="zh-TW" altLang="en-US" sz="1200" dirty="0"/>
                        <a:t>修改配色的</a:t>
                      </a:r>
                      <a:r>
                        <a:rPr lang="en-US" altLang="zh-TW" sz="1200" dirty="0"/>
                        <a:t>pipeline2:</a:t>
                      </a:r>
                      <a:r>
                        <a:rPr lang="zh-TW" altLang="en-US" sz="1200" dirty="0"/>
                        <a:t>讀取文字，信心度</a:t>
                      </a:r>
                      <a:r>
                        <a:rPr lang="en-US" altLang="zh-TW" sz="1200" dirty="0"/>
                        <a:t>&lt;0.91</a:t>
                      </a:r>
                      <a:r>
                        <a:rPr lang="zh-TW" altLang="en-US" sz="1200" dirty="0"/>
                        <a:t>，將圖片傳給</a:t>
                      </a:r>
                      <a:r>
                        <a:rPr lang="en-US" altLang="zh-TW" sz="1200" dirty="0"/>
                        <a:t>imagen</a:t>
                      </a:r>
                      <a:endParaRPr lang="zh-TW" altLang="en-US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“+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4</a:t>
                      </a:r>
                      <a:r>
                        <a:rPr lang="zh-TW" altLang="en-US" sz="1200" dirty="0"/>
                        <a:t>次</a:t>
                      </a:r>
                      <a:r>
                        <a:rPr lang="en-US" altLang="zh-TW" sz="1200" dirty="0"/>
                        <a:t>”</a:t>
                      </a:r>
                      <a:r>
                        <a:rPr lang="zh-TW" altLang="en-US" sz="1200" dirty="0"/>
                        <a:t>修改元素：</a:t>
                      </a:r>
                      <a:r>
                        <a:rPr lang="en-US" altLang="zh-TW" sz="1200" dirty="0"/>
                        <a:t>Mini 1 </a:t>
                      </a:r>
                      <a:r>
                        <a:rPr lang="zh-TW" altLang="en-US" sz="1200" dirty="0"/>
                        <a:t>更新 </a:t>
                      </a:r>
                      <a:r>
                        <a:rPr lang="en-US" altLang="zh-TW" sz="1200" dirty="0"/>
                        <a:t>Design Spec</a:t>
                      </a:r>
                      <a:r>
                        <a:rPr lang="zh-TW" altLang="en-US" sz="1200" dirty="0"/>
                        <a:t>；</a:t>
                      </a:r>
                      <a:r>
                        <a:rPr lang="en-US" altLang="zh-TW" sz="1200" dirty="0"/>
                        <a:t>Mini 2 </a:t>
                      </a:r>
                      <a:r>
                        <a:rPr lang="zh-TW" altLang="en-US" sz="1200" dirty="0"/>
                        <a:t>編譯圖片 </a:t>
                      </a:r>
                      <a:r>
                        <a:rPr lang="en-US" altLang="zh-TW" sz="1200" dirty="0"/>
                        <a:t>prompt</a:t>
                      </a:r>
                      <a:r>
                        <a:rPr lang="zh-TW" altLang="en-US" sz="1200" dirty="0"/>
                        <a:t>；</a:t>
                      </a:r>
                      <a:r>
                        <a:rPr lang="en-US" altLang="zh-TW" sz="1200" dirty="0"/>
                        <a:t>Image 1 </a:t>
                      </a:r>
                      <a:r>
                        <a:rPr lang="zh-TW" altLang="en-US" sz="1200" dirty="0"/>
                        <a:t>生成新圖</a:t>
                      </a:r>
                      <a:endParaRPr lang="en-US" altLang="zh-TW" sz="1200" dirty="0"/>
                    </a:p>
                    <a:p>
                      <a:r>
                        <a:rPr lang="en-US" altLang="zh-TW" sz="1200" dirty="0"/>
                        <a:t>“+</a:t>
                      </a:r>
                    </a:p>
                    <a:p>
                      <a:r>
                        <a:rPr lang="en-US" altLang="zh-TW" sz="1200" dirty="0"/>
                        <a:t>3</a:t>
                      </a:r>
                      <a:r>
                        <a:rPr lang="zh-TW" altLang="en-US" sz="1200" dirty="0"/>
                        <a:t>次</a:t>
                      </a:r>
                      <a:r>
                        <a:rPr lang="en-US" altLang="zh-TW" sz="1200" dirty="0"/>
                        <a:t>” A</a:t>
                      </a:r>
                      <a:r>
                        <a:rPr lang="zh-TW" altLang="en-US" sz="1200" dirty="0"/>
                        <a:t>：套用商品 </a:t>
                      </a:r>
                      <a:r>
                        <a:rPr lang="en-US" altLang="zh-TW" sz="1200" dirty="0"/>
                        <a:t>Template</a:t>
                      </a:r>
                    </a:p>
                    <a:p>
                      <a:r>
                        <a:rPr lang="en-US" altLang="zh-TW" sz="1200" dirty="0"/>
                        <a:t>Input : </a:t>
                      </a:r>
                      <a:r>
                        <a:rPr lang="zh-TW" altLang="en-US" sz="1200" dirty="0"/>
                        <a:t>商品 </a:t>
                      </a:r>
                      <a:r>
                        <a:rPr lang="en-US" altLang="zh-TW" sz="1200" dirty="0"/>
                        <a:t>Template</a:t>
                      </a:r>
                      <a:r>
                        <a:rPr lang="zh-TW" altLang="en-US" sz="1200" dirty="0"/>
                        <a:t>＋圖騰＋文字</a:t>
                      </a:r>
                      <a:endParaRPr lang="en-US" altLang="zh-TW" sz="1200" dirty="0"/>
                    </a:p>
                    <a:p>
                      <a:r>
                        <a:rPr lang="en-US" altLang="zh-TW" sz="1200" dirty="0"/>
                        <a:t>“</a:t>
                      </a:r>
                    </a:p>
                    <a:p>
                      <a:r>
                        <a:rPr lang="en-US" altLang="zh-TW" sz="1200" dirty="0"/>
                        <a:t>+N</a:t>
                      </a:r>
                      <a:r>
                        <a:rPr lang="zh-TW" altLang="en-US" sz="1200" dirty="0"/>
                        <a:t>次輔助圖</a:t>
                      </a:r>
                      <a:r>
                        <a:rPr lang="en-US" altLang="zh-TW" sz="1200" dirty="0"/>
                        <a:t>(</a:t>
                      </a:r>
                      <a:r>
                        <a:rPr lang="zh-TW" altLang="en-US" sz="1200" dirty="0"/>
                        <a:t>不用錢</a:t>
                      </a:r>
                      <a:r>
                        <a:rPr lang="en-US" altLang="zh-TW" sz="1200" dirty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約 </a:t>
                      </a:r>
                      <a:r>
                        <a:rPr lang="en-US" altLang="zh-TW" sz="1200" dirty="0"/>
                        <a:t>US$4.36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4.47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163873"/>
                  </a:ext>
                </a:extLst>
              </a:tr>
              <a:tr h="436378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生成</a:t>
                      </a:r>
                      <a:r>
                        <a:rPr lang="en-US" altLang="zh-TW" sz="1200" dirty="0"/>
                        <a:t>25</a:t>
                      </a:r>
                      <a:r>
                        <a:rPr lang="zh-TW" altLang="en-US" sz="1200" dirty="0"/>
                        <a:t>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放寬</a:t>
                      </a:r>
                      <a:r>
                        <a:rPr lang="en-US" altLang="zh-TW" sz="1200" dirty="0"/>
                        <a:t>range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約 </a:t>
                      </a:r>
                      <a:r>
                        <a:rPr lang="en-US" altLang="zh-TW" sz="1200" dirty="0"/>
                        <a:t>US$4.00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5.00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NT$120-150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376037"/>
                  </a:ext>
                </a:extLst>
              </a:tr>
              <a:tr h="610929"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生成</a:t>
                      </a:r>
                      <a:r>
                        <a:rPr lang="en-US" altLang="zh-TW" sz="1200" dirty="0"/>
                        <a:t>100</a:t>
                      </a:r>
                      <a:r>
                        <a:rPr lang="zh-TW" altLang="en-US" sz="1200" dirty="0"/>
                        <a:t>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假設他一個月送出</a:t>
                      </a:r>
                      <a:r>
                        <a:rPr lang="en-US" altLang="zh-TW" sz="1200" dirty="0"/>
                        <a:t>100</a:t>
                      </a:r>
                      <a:r>
                        <a:rPr lang="zh-TW" altLang="en-US" sz="1200" dirty="0"/>
                        <a:t>次請求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約 </a:t>
                      </a:r>
                      <a:r>
                        <a:rPr lang="en-US" altLang="zh-TW" sz="1200" dirty="0"/>
                        <a:t>US$16.00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20.00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NT$480-600</a:t>
                      </a:r>
                      <a:endParaRPr lang="zh-TW" altLang="en-US" sz="1200" dirty="0"/>
                    </a:p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441933"/>
                  </a:ext>
                </a:extLst>
              </a:tr>
              <a:tr h="610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生成</a:t>
                      </a:r>
                      <a:r>
                        <a:rPr lang="en-US" altLang="zh-TW" sz="1200" dirty="0"/>
                        <a:t>200</a:t>
                      </a:r>
                      <a:r>
                        <a:rPr lang="zh-TW" altLang="en-US" sz="1200" dirty="0"/>
                        <a:t>張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假設他一個月送出</a:t>
                      </a:r>
                      <a:r>
                        <a:rPr lang="en-US" altLang="zh-TW" sz="1200" dirty="0"/>
                        <a:t>200</a:t>
                      </a:r>
                      <a:r>
                        <a:rPr lang="zh-TW" altLang="en-US" sz="1200" dirty="0"/>
                        <a:t>次請求</a:t>
                      </a:r>
                    </a:p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約 </a:t>
                      </a:r>
                      <a:r>
                        <a:rPr lang="en-US" altLang="zh-TW" sz="1200" dirty="0"/>
                        <a:t>US$32.0</a:t>
                      </a:r>
                      <a:r>
                        <a:rPr lang="zh-TW" altLang="en-US" sz="1200" dirty="0"/>
                        <a:t>～</a:t>
                      </a:r>
                      <a:r>
                        <a:rPr lang="en-US" altLang="zh-TW" sz="1200" dirty="0"/>
                        <a:t>40.0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/>
                        <a:t>NT$960~1200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06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794</Words>
  <Application>Microsoft Office PowerPoint</Application>
  <PresentationFormat>寬螢幕</PresentationFormat>
  <Paragraphs>145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莎芙API價錢</vt:lpstr>
      <vt:lpstr>相同配色四張不同設計的圖騰</vt:lpstr>
      <vt:lpstr>生成四張圖騰+4張商品圖</vt:lpstr>
      <vt:lpstr>產生一張商品預覽圖</vt:lpstr>
      <vt:lpstr>產生一張修改後的圖騰</vt:lpstr>
      <vt:lpstr>最終估計價錢(尚未加上aws的)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雨虹 蘇</dc:creator>
  <cp:lastModifiedBy>雨虹 蘇</cp:lastModifiedBy>
  <cp:revision>6</cp:revision>
  <dcterms:created xsi:type="dcterms:W3CDTF">2026-08-07T02:42:07Z</dcterms:created>
  <dcterms:modified xsi:type="dcterms:W3CDTF">2026-08-26T08:12:52Z</dcterms:modified>
</cp:coreProperties>
</file>